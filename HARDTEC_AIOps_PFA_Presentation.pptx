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D4AA"/>
                </a:solidFill>
                <a:latin typeface="Calibri"/>
              </a:rPr>
              <a:t>ENSA BERRECHID  |  Big Data &amp; Systèmes d'Information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371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HARDTEC AIOps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>
                <a:solidFill>
                  <a:srgbClr val="00D4AA"/>
                </a:solidFill>
                <a:latin typeface="Calibri"/>
              </a:rPr>
              <a:t>Intelligent Support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931920"/>
            <a:ext cx="5486400" cy="27432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Conception et développement d'une plateforme AIOps intelligente
pour la détection, la prédiction et l'assistance aux incidents informatiques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  <a:latin typeface="Calibri"/>
              </a:rPr>
              <a:t>Projet de Fin d'Année 2025–2026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400800"/>
            <a:ext cx="1280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Entreprise : HARDTEC MAROC
Encadrant professionnel : M. FADIL BADR
Encadrant académique : Pr. Ahmed Nafidi
Présenté par : [Nom et Prénom]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Contexte et problématique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463040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114800" cy="29260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Calibri"/>
              </a:rPr>
              <a:t>TICKETS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749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Volume important
• Hétérogènes
• Multilingues
• Non structurés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D4AA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371600"/>
            <a:ext cx="4114800" cy="29260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150876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Calibri"/>
              </a:rPr>
              <a:t>ANALYSE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011680"/>
            <a:ext cx="3749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Manuelle
• Lente
• Coûteuse
• Répétitive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D4AA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1371600"/>
            <a:ext cx="4114800" cy="29260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1508760"/>
            <a:ext cx="3749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1628"/>
                </a:solidFill>
                <a:latin typeface="Calibri"/>
              </a:rPr>
              <a:t>DÉCISION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011680"/>
            <a:ext cx="3749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• Routage
• Erreurs possibles
• Mauvaise affectation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754880"/>
            <a:ext cx="13167360" cy="16459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937760"/>
            <a:ext cx="1243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PROBLÉMATIQUE CENTRALE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394960"/>
            <a:ext cx="12435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Comment exploiter les données IT, le Machine Learning et l'IA
pour mieux classifier les tickets, anticiper les risques et assister le support 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766560"/>
            <a:ext cx="1316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Calibri"/>
              </a:rPr>
              <a:t>💡  L'objectif : ASSISTER l'opérateur, pas le REMPLACER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Objectifs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463040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6400800" cy="21945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6400800" cy="5486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1. DATA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Structurer et préparer les données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1371600"/>
            <a:ext cx="6400800" cy="21945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498079" y="1371600"/>
            <a:ext cx="6400800" cy="54864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59" y="146304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2. TICKET INTELLIGENCE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9" y="219456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Classifier et prédire l'affectation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6400800" cy="21945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6400800" cy="5486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3. AIOps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75488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Expérimenter la prédiction du risque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3931920"/>
            <a:ext cx="6400800" cy="21945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498079" y="3931920"/>
            <a:ext cx="6400800" cy="54864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59" y="402336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4. INTELLIGENT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399" y="4754880"/>
            <a:ext cx="58521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F2937"/>
                </a:solidFill>
                <a:latin typeface="Calibri"/>
              </a:rPr>
              <a:t>RAG + Agent IA + Recherche sémantique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6400800"/>
            <a:ext cx="13167360" cy="82296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53796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🎯  Principe directeur : HUMAN-IN-THE-LOOP — L'IA propose, l'opérateur valide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Périmètre réalisé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463040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4206240" cy="50292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B981"/>
                </a:solidFill>
                <a:latin typeface="Calibri"/>
              </a:rPr>
              <a:t>✅  IMPLÉMENTÉ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Pipeline classification
• API FastAPI (9 endpoints)
• Interface Streamlit (5 pages)
• Historique SQLite
• Modèles Type/Queue/Priority
• 4 DAGs Airflow
• Docker Compose
• MLflow tracking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12080" y="1371600"/>
            <a:ext cx="4206240" cy="50292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0" y="1554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59E0B"/>
                </a:solidFill>
                <a:latin typeface="Calibri"/>
              </a:rPr>
              <a:t>⚠️  EXPÉRIMENTAL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1945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Prédiction AIOps
• (performances faibles)
• Artefacts RAG absents
• (tickets.index, documents.pkl)
• Validation end-to-end
• non démontrée
• Métriques Queue/Priority
• à compléter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1371600"/>
            <a:ext cx="4206240" cy="502920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0" y="15544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563EB"/>
                </a:solidFill>
                <a:latin typeface="Calibri"/>
              </a:rPr>
              <a:t>🔮  PERSPECTIVES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19456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Monitoring temps réel
• Amélioration des modèles
• Kafka (streaming)
• Industrialisation complète
• Observabilité (Grafana)
• Kubernetes
• Calibration des probabilités
• Authentification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Architecture globale de la plateforme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463040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0" y="1097280"/>
            <a:ext cx="4572000" cy="5486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0" y="12344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SOURCES : Tickets IT  |  Télémétrie MicroSS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0" y="16916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4AA"/>
                </a:solidFill>
                <a:latin typeface="Calibr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2011680"/>
            <a:ext cx="4572000" cy="5486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21488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DATA ENGINEERING : Snowflake | dbt | DuckDB | SQLite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6060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4AA"/>
                </a:solidFill>
                <a:latin typeface="Calibr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3017520"/>
            <a:ext cx="4114800" cy="100584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77440" y="31546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TICKET INTELLIGENCE
Type → Queue → Priority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017520"/>
            <a:ext cx="4114800" cy="10058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3154680"/>
            <a:ext cx="3931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AIOps
MicroSS / XGBoost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40690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4AA"/>
                </a:solidFill>
                <a:latin typeface="Calibri"/>
              </a:rP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4480560"/>
            <a:ext cx="4572000" cy="6400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4617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INTELLIGENT SUPPORT : RAG (FAISS) + Agent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51663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4AA"/>
                </a:solidFill>
                <a:latin typeface="Calibri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5486400"/>
            <a:ext cx="4572000" cy="5486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56235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FastAPI  +  Streamlit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6080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4AA"/>
                </a:solidFill>
                <a:latin typeface="Calibri"/>
              </a:rPr>
              <a:t>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0" y="6400800"/>
            <a:ext cx="4572000" cy="548640"/>
          </a:xfrm>
          <a:prstGeom prst="round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6537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Historique SQLite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50292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Airflow
Orchestration
Docker
Conteneurisation
MLflow
Suivi exp.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Data Engineering et préparation des données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463040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286000" cy="10972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DONNÉES
BRUTES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D4AA"/>
                </a:solidFill>
                <a:latin typeface="Calibri"/>
              </a:rPr>
              <a:t>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63040"/>
            <a:ext cx="2286000" cy="10972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6916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D4AA"/>
                </a:solidFill>
                <a:latin typeface="Calibri"/>
              </a:rPr>
              <a:t>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2286000" cy="10972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D4AA"/>
                </a:solidFill>
                <a:latin typeface="Calibri"/>
              </a:rPr>
              <a:t>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1120" y="1463040"/>
            <a:ext cx="2286000" cy="10972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6916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1783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D4AA"/>
                </a:solidFill>
                <a:latin typeface="Calibri"/>
              </a:rPr>
              <a:t>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704320" y="1463040"/>
            <a:ext cx="2286000" cy="10972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795760" y="169164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DONNÉES
EXPLOITABLES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017520"/>
            <a:ext cx="13167360" cy="6400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5468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1628"/>
                </a:solidFill>
                <a:latin typeface="Calibri"/>
              </a:rPr>
              <a:t>📊  20 000 tickets prétraités  —  tickets_clean.csv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931920"/>
            <a:ext cx="13167360" cy="3200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114800"/>
            <a:ext cx="1261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A1628"/>
                </a:solidFill>
                <a:latin typeface="Calibri"/>
              </a:rPr>
              <a:t>TECHNOLOGIES ET RÔLES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663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❄️  Snowflake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4663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Data Warehouse — stockage centralisé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5257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🔧  dbt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2578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Transformation SQL — Bronze / Silver / Gold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852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🦆  DuckDB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8521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Analyse locale OLAP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6446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💾  SQLite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6446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937"/>
                </a:solidFill>
                <a:latin typeface="Calibri"/>
              </a:rPr>
              <a:t>Persistance transactionnelle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Classification intelligente des tickets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463040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1188720"/>
            <a:ext cx="9144000" cy="82296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132588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📩  TICKET UTILISATEUR : « Le serveur est complètement down...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8800" y="2286000"/>
            <a:ext cx="10972800" cy="1234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237744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ÉTAPE 1 : 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2743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63EB"/>
                </a:solidFill>
                <a:latin typeface="Calibri"/>
              </a:rPr>
              <a:t>Modèle : ticket_type_model.pkl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306324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TF-IDF + LinearSVC   →   Incident | Request | Problem | Change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474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D4AA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3703320"/>
            <a:ext cx="10972800" cy="1234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37947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ÉTAPE 2 : QUEUE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4160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63EB"/>
                </a:solidFill>
                <a:latin typeface="Calibri"/>
              </a:rPr>
              <a:t>Modèle : ticket_queue_model_v4.pkl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448056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TF-IDF + OneHot(Type) + LinearSVC   →   Technical Support | IT Support | Billing | ...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892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D4AA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5120640"/>
            <a:ext cx="10972800" cy="1234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52120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1628"/>
                </a:solidFill>
                <a:latin typeface="Calibri"/>
              </a:rPr>
              <a:t>ÉTAPE 3 : PRIORITY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5577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563EB"/>
                </a:solidFill>
                <a:latin typeface="Calibri"/>
              </a:rPr>
              <a:t>Modèle : ticket_priority_model_v3.pkl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589788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TF-IDF + OneHot(Type, Queue) + LinearSVC   →   High | Medium | 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858000"/>
            <a:ext cx="1316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Calibri"/>
              </a:rPr>
              <a:t>⚠️  Pipeline en cascade : une erreur en amont peut se propager vers les étapes suivantes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Résultats — Classification du 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463040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828800" y="1371600"/>
            <a:ext cx="5029200" cy="2011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Calibri"/>
              </a:rPr>
              <a:t>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10312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F2937"/>
                </a:solidFill>
                <a:latin typeface="Calibri"/>
              </a:rPr>
              <a:t>81,98 %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0" y="1371600"/>
            <a:ext cx="5029200" cy="20116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Calibri"/>
              </a:rPr>
              <a:t>MACRO-F1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79" y="2103120"/>
            <a:ext cx="46634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1F2937"/>
                </a:solidFill>
                <a:latin typeface="Calibri"/>
              </a:rPr>
              <a:t>81,80 %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566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A1628"/>
                </a:solidFill>
                <a:latin typeface="Calibri"/>
              </a:rPr>
              <a:t>📊  Évaluation sur 4 000 exemples de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1628"/>
                </a:solidFill>
                <a:latin typeface="Calibri"/>
              </a:rPr>
              <a:t>F1-SCORE PAR CLASSE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Request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4617720"/>
            <a:ext cx="8063362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40802" y="4572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97.98 %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74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Change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0" y="5120640"/>
            <a:ext cx="7770388" cy="3200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7828" y="5074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94.42 %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577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Incident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5623560"/>
            <a:ext cx="6577919" cy="3200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55359" y="55778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79.93 %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6080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F2937"/>
                </a:solidFill>
                <a:latin typeface="Calibri"/>
              </a:rPr>
              <a:t>Problem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0" y="6126480"/>
            <a:ext cx="4514758" cy="32004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92198" y="6080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54.86 %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694944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A1628"/>
                </a:solidFill>
                <a:latin typeface="Calibri"/>
              </a:rPr>
              <a:t>✅  Base solide pour automatiser l'orientation    |    ⚠️  Classe Problem plus difficile à distinguer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AIOps — Prédiction du risque d'incident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463040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344400" y="137160"/>
            <a:ext cx="2011680" cy="54864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435840" y="228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EXPÉRIMENTAL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1280160"/>
            <a:ext cx="9144000" cy="960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37160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Calibri"/>
              </a:rPr>
              <a:t>115 métriques de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178308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CPU, mémoire, I/O réseau, taux d'erreurs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194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4AA"/>
                </a:solidFill>
                <a:latin typeface="Calibr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2468880"/>
            <a:ext cx="9144000" cy="960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2560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D4AA"/>
                </a:solidFill>
                <a:latin typeface="Calibri"/>
              </a:rPr>
              <a:t>Feature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971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→ 1 380 features temporelles (lags, deltas, % var., rolling stats)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33832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4AA"/>
                </a:solidFill>
                <a:latin typeface="Calibr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0" y="3657600"/>
            <a:ext cx="9144000" cy="960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17520" y="374904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Calibri"/>
              </a:rPr>
              <a:t>MicroSS / XGBoost V3.1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1605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→ Probabilité de risque d'incident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4572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D4AA"/>
                </a:solidFill>
                <a:latin typeface="Calibri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4846320"/>
            <a:ext cx="9144000" cy="960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493776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59E0B"/>
                </a:solidFill>
                <a:latin typeface="Calibri"/>
              </a:rPr>
              <a:t>Seuil de décision : 0,35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17520" y="53492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→ Alerte risque  |  État normal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6400800"/>
            <a:ext cx="5943600" cy="6400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65379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Granularité : 5 minutes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0" y="6400800"/>
            <a:ext cx="5943600" cy="6400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653796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Horizon : 15 minutes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Résultats — Modèle AIOps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463040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3840480" cy="1828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F4444"/>
                </a:solidFill>
                <a:latin typeface="Calibri"/>
              </a:rPr>
              <a:t>PRECISION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F2937"/>
                </a:solidFill>
                <a:latin typeface="Calibri"/>
              </a:rPr>
              <a:t>3,20 %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1371600"/>
            <a:ext cx="3840480" cy="1828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Calibri"/>
              </a:rPr>
              <a:t>RECALL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21031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F2937"/>
                </a:solidFill>
                <a:latin typeface="Calibri"/>
              </a:rPr>
              <a:t>42,00 %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92640" y="1371600"/>
            <a:ext cx="3840480" cy="18288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0" y="1554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F4444"/>
                </a:solidFill>
                <a:latin typeface="Calibri"/>
              </a:rPr>
              <a:t>F1-SCORE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10312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F2937"/>
                </a:solidFill>
                <a:latin typeface="Calibri"/>
              </a:rPr>
              <a:t>5,95 %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3474720"/>
            <a:ext cx="5029200" cy="14630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3611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F4444"/>
                </a:solidFill>
                <a:latin typeface="Calibri"/>
              </a:rPr>
              <a:t>PR-AUC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0233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F2937"/>
                </a:solidFill>
                <a:latin typeface="Calibri"/>
              </a:rPr>
              <a:t>3,27 %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3474720"/>
            <a:ext cx="5029200" cy="14630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36118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59E0B"/>
                </a:solidFill>
                <a:latin typeface="Calibri"/>
              </a:rPr>
              <a:t>ROC-AUC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023360"/>
            <a:ext cx="4663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F2937"/>
                </a:solidFill>
                <a:latin typeface="Calibri"/>
              </a:rPr>
              <a:t>55,40 %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03520"/>
            <a:ext cx="13167360" cy="20116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440680"/>
            <a:ext cx="1261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</a:rPr>
              <a:t>INTERPRÉTATION HONNÊTE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897880"/>
            <a:ext cx="12618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Recall 42 % → détecte une partie des incidents
•  Precision 3,2 % → génère énormément de faux positifs
•  ROC-AUC 0,554 → proche du hasard
⚠️  Modèle expérimental nécessitant des améliorations avant tout usage opérationnel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Recherche sémantique et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463040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1188720"/>
            <a:ext cx="8229600" cy="6858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383280" y="135331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REQUÊTE UTILISATEUR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187452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057400"/>
            <a:ext cx="8229600" cy="6858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22199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SENTENCE TRANSFORMER  —  paraphrase-multilingual-MiniLM-L12-v2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74320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926080"/>
            <a:ext cx="8229600" cy="6858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309067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EMBEDDING  —  Vecteur dense float32 + Normalisation L2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61188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3794760"/>
            <a:ext cx="8229600" cy="6858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395935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FAISS  —  Recherche Top-K (k = 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44805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0" y="4663440"/>
            <a:ext cx="8229600" cy="6858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482803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TICKETS SIMILAIRES  —  Métadonnées + solutions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349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5532120"/>
            <a:ext cx="8229600" cy="6858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83280" y="5696712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ASSISTANCE  —  Contexte pour l'opérateur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6583680"/>
            <a:ext cx="12801600" cy="9144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6675120"/>
            <a:ext cx="1243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9E0B"/>
                </a:solidFill>
                <a:latin typeface="Calibri"/>
              </a:rPr>
              <a:t>⚠️  À VALIDER — Artefacts absents de l'archive finale 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6995160"/>
            <a:ext cx="1243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models/rag/tickets.index   •   models/rag/documents.pkl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Agent IA — Assistance à l'analyse des incidents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463040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286000" y="1188720"/>
            <a:ext cx="10058400" cy="8686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468880" y="128016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📩  TICKET / INCIDENT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0574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240280"/>
            <a:ext cx="10058400" cy="8686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33172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ANALYSE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69748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Prédiction ML + Recherche RAG + Score AIOps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1089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3291840"/>
            <a:ext cx="10058400" cy="868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80" y="338328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CONTEXTE DISPONIBLE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74904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Type, Queue, Priority, tickets similaires, risque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416052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4343400"/>
            <a:ext cx="10058400" cy="8686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443484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RECOMMANDATION / ASSISTANCE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80060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Plan d'action proposé à l'opérateur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521208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5394960"/>
            <a:ext cx="10058400" cy="868680"/>
          </a:xfrm>
          <a:prstGeom prst="round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54864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✋  VALIDATION HUMAINE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85216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HUMAN-IN-THE-LOOP — L'agent propose, l'opérateur valide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949440"/>
            <a:ext cx="1316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Calibri"/>
              </a:rPr>
              <a:t>📡  Endpoint : POST /agent/analyze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API et interface utilisateur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463040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6400800" cy="62179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400800" cy="5486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FASTAPI — Backend REST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0116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/health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0116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Vérifier l'état des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60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POST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/predict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5603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Classifier un ticket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POST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108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/aiops/predict-risk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31089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Prédire le risque AIOps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657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/rag/search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657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Rechercher tickets similaires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Calibri"/>
              </a:rPr>
              <a:t>POST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206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/support/analyze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Analyse ML + RAG + AIOps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7548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/history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754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Consulter l'historique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03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GET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/history/{id}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53035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Récupérer une prédiction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8521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Calibri"/>
              </a:rPr>
              <a:t>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8521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/stats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8521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F2937"/>
                </a:solidFill>
                <a:latin typeface="Calibri"/>
              </a:rPr>
              <a:t>Statistiques agrégées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658368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✅  Pydantic  |  ✅  Erreurs 400/404/500/503  |  Port 8000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79" y="1280160"/>
            <a:ext cx="6400800" cy="62179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498079" y="1280160"/>
            <a:ext cx="6400800" cy="54864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13716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STREAMLIT — Interface utilisateur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0" y="2011680"/>
            <a:ext cx="5852160" cy="365760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356616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B7280"/>
                </a:solidFill>
                <a:latin typeface="Calibri"/>
              </a:rPr>
              <a:t>📸  [CAPTURE À INSÉRER]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0" y="5852160"/>
            <a:ext cx="5852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A1628"/>
                </a:solidFill>
                <a:latin typeface="Calibri"/>
              </a:rPr>
              <a:t>5 pages 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6172200"/>
            <a:ext cx="5852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Dashboard  •  AI Ticket Analyzer  •  Incident Prediction  •  Intelligent Support  •  Analytics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Orchestration des pipelines avec Airflow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463040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0" y="1188720"/>
            <a:ext cx="4572000" cy="82296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13258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AIRFLOW — Orchestrateur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2011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D4AA"/>
                </a:solidFill>
                <a:latin typeface="Calibri"/>
              </a:rPr>
              <a:t>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4114800" cy="10972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DAG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hardtec_ticket_pipeline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0" y="2651760"/>
            <a:ext cx="4114800" cy="10972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7889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DAG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31089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hardtec_aiops_pipeline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2651760"/>
            <a:ext cx="4114800" cy="10972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0" y="278892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DAG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3108960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hardtec_rag_pipeline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794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3794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0" y="37947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286000" y="4206240"/>
            <a:ext cx="10058400" cy="14630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A16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80" y="4343400"/>
            <a:ext cx="9692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A1628"/>
                </a:solidFill>
                <a:latin typeface="Calibri"/>
              </a:rPr>
              <a:t>hardtec_complete_pipeline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892040"/>
            <a:ext cx="9692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Calibri"/>
              </a:rPr>
              <a:t>Validation → Classification → RAG → AIOps → Synthèse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6035040"/>
            <a:ext cx="6400800" cy="7315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61722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📅  Fréquence : @daily (quotidien)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6035040"/>
            <a:ext cx="6400800" cy="7315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0" y="6172200"/>
            <a:ext cx="6035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🎯  4 DAGs configurés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040880"/>
            <a:ext cx="1316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📸  [CAPTURE À INSÉRER — Console Airflow]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Conteneurisation et suivi des expériences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463040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3167360" cy="32004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3167360" cy="5486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🐳  DOCKER COMPOSE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2103120"/>
            <a:ext cx="3657600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D4AA"/>
                </a:solidFill>
                <a:latin typeface="Calibri"/>
              </a:rPr>
              <a:t>Port 8000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2103120"/>
            <a:ext cx="3657600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D4AA"/>
                </a:solidFill>
                <a:latin typeface="Calibri"/>
              </a:rPr>
              <a:t>Port 8001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103120"/>
            <a:ext cx="3657600" cy="109728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MLFLOW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26974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0D4AA"/>
                </a:solidFill>
                <a:latin typeface="Calibri"/>
              </a:rPr>
              <a:t>Port 5000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97280" y="3383280"/>
            <a:ext cx="12435840" cy="9144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3520440"/>
            <a:ext cx="1207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0B981"/>
                </a:solidFill>
                <a:latin typeface="Calibri"/>
              </a:rPr>
              <a:t>Volumes partagés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40480"/>
            <a:ext cx="1207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Calibri"/>
              </a:rPr>
              <a:t>/app/models (Read-Only)  •  /app/data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754880"/>
            <a:ext cx="13167360" cy="2286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4754880"/>
            <a:ext cx="13167360" cy="54864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84632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📊  MLFLOW — Suivi des expériences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577840"/>
            <a:ext cx="1261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Enregistrement des runs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943600"/>
            <a:ext cx="1261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Métriques (accuracy, F1, precision, recall)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6309360"/>
            <a:ext cx="1261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Paramètres des modèles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6675120"/>
            <a:ext cx="1261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Artefacts (modèles .pkl)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223760"/>
            <a:ext cx="1316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Calibri"/>
              </a:rPr>
              <a:t>⚠️  Streamlit n'est pas défini dans le Docker Compose observé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Automatisation et CI/CD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463040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743200" y="1188720"/>
            <a:ext cx="9144000" cy="731520"/>
          </a:xfrm>
          <a:prstGeom prst="round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926080" y="132588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GITHUB ACTIONS  —  .github/workflows/ci-cd.yml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194560"/>
            <a:ext cx="10058400" cy="868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228600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1. COMPILATION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5176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python -m compileall -q src tests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306324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86000" y="3246120"/>
            <a:ext cx="10058400" cy="868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333756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  <a:latin typeface="Calibri"/>
              </a:rPr>
              <a:t>2. TESTS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370332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pytest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411480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4297680"/>
            <a:ext cx="10058400" cy="868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438912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Calibri"/>
              </a:rPr>
              <a:t>3. VALIDATION DOCKER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75488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Validation de la configuration Docker Compose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5166360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7280"/>
                </a:solidFill>
                <a:latin typeface="Calibri"/>
              </a:rPr>
              <a:t>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86000" y="5349240"/>
            <a:ext cx="10058400" cy="8686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468880" y="544068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0B981"/>
                </a:solidFill>
                <a:latin typeface="Calibri"/>
              </a:rPr>
              <a:t>4. PUBLICATION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68880" y="5806440"/>
            <a:ext cx="9692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937"/>
                </a:solidFill>
                <a:latin typeface="Calibri"/>
              </a:rPr>
              <a:t>Push des images sur GHCR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858000"/>
            <a:ext cx="1316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Calibri"/>
              </a:rPr>
              <a:t>🔄  Déclenchement : push / pull request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Tests et validation technique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463040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8686800" cy="27432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Calibri"/>
              </a:rPr>
              <a:t>✓  TESTS PRÉSENTS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test_api_endpoints.py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92024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→ Endpoints REST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677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test_agent.py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26771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→ Agent 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61518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test_ticket_store.py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0" y="2615184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→ Persistance SQLite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6265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test_environment_config.py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2962656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→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3101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test_predictor.py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33101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→ Prédicteur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657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Calibri"/>
              </a:rPr>
              <a:t>test_rag.py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36576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→ Recherche sémantique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1280160"/>
            <a:ext cx="4206240" cy="274320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0" y="14173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Calibri"/>
              </a:rPr>
              <a:t>✓  VALIDATION SYNTAXIQUE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201168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python -m compileall
-q src tests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320040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Calibri"/>
              </a:rPr>
              <a:t>✅  Compilation réussie
sur l'archive extraite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97680"/>
            <a:ext cx="13167360" cy="27432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434840"/>
            <a:ext cx="1261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Calibri"/>
              </a:rPr>
              <a:t>⚠️  DISTINCTION IMPORTANTE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937760"/>
            <a:ext cx="1243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✓  Preuve de présence du 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321808"/>
            <a:ext cx="1243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✓  Compilation réussie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705856"/>
            <a:ext cx="1243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✓  Tests unitaires disponibles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6089904"/>
            <a:ext cx="1243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⚠️  Validation end-to-end non démontrée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6473952"/>
            <a:ext cx="1243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⚠️  Preuve de production non fournie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Contributions du projet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463040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4114800" cy="2743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Data Engineering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Snowflake • dbt
DuckDB • SQLite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1280160"/>
            <a:ext cx="4114800" cy="27432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14630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2860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9260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Type → Queue
→ Priority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0" y="1280160"/>
            <a:ext cx="4114800" cy="274320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0" y="1463040"/>
            <a:ext cx="37490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AIOps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286000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Prédiction
expérimentale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9260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MicroSS
XGBoost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6400800" cy="201168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8056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RAG / 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21208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Recherche sémantique + Agent IA
FAISS + MiniLM • Human-in-the-loop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0" y="4297680"/>
            <a:ext cx="6400800" cy="201168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448056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PLATEFORME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521208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FastAPI + Streamlit • Airflow + Docker + MLflow
CI/CD GitHub Actions • 9 endpoints REST • 5 pages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6492240"/>
            <a:ext cx="13167360" cy="12801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675120"/>
            <a:ext cx="1261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1628"/>
                </a:solidFill>
                <a:latin typeface="Calibri"/>
              </a:rPr>
              <a:t>💡  Une base intégrée reliant Data Engineering, Machine Learning,
     AIOps et assistance intelligente pour les opérations IT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9144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Limites actuelles et perspectives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4630400" cy="45720"/>
          </a:xfrm>
          <a:prstGeom prst="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6583680" cy="612648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F59E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9E0B"/>
                </a:solidFill>
                <a:latin typeface="Calibri"/>
              </a:rPr>
              <a:t>⚠️  LIMITES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Calibri"/>
              </a:rPr>
              <a:t>• AIOps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Performances faibles, nombreux faux positifs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1752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Calibri"/>
              </a:rPr>
              <a:t>• Données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8328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Historiques uniquement, pas de validation temps réel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0233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Calibri"/>
              </a:rPr>
              <a:t>• RAG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8912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Artefacts tickets.index et documents.pkl absents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Calibri"/>
              </a:rPr>
              <a:t>•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394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End-to-end non démontrée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03504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Calibri"/>
              </a:rPr>
              <a:t>• Modèles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640080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2937"/>
                </a:solidFill>
                <a:latin typeface="Calibri"/>
              </a:rPr>
              <a:t>Évaluation Queue/Priority à compléter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188720"/>
            <a:ext cx="6583680" cy="61264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0" y="13258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563EB"/>
                </a:solidFill>
                <a:latin typeface="Calibri"/>
              </a:rPr>
              <a:t>🔮  PERSPECTIVES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01168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Améliorer les modèles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257860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Réduire les faux positifs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314553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Améliorer le rappel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3712464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Enrichir le corpus documentaire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279392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Rendre le RAG reproductible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8463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Monitoring temps réel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5413248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Observabilité (Grafana)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0" y="598017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937"/>
                </a:solidFill>
                <a:latin typeface="Calibri"/>
              </a:rPr>
              <a:t>•  Suivi continu des modèles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6547104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59E0B"/>
                </a:solidFill>
                <a:latin typeface="Calibri"/>
              </a:rPr>
              <a:t>•  Streaming (Kafka) → PERSPECTIVE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7406640"/>
            <a:ext cx="1371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59E0B"/>
                </a:solidFill>
                <a:latin typeface="Calibri"/>
              </a:rPr>
              <a:t>⚠️  Kafka = PERSPECTIVE UNIQUEMENT (non implémenté)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371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463040"/>
            <a:ext cx="3200400" cy="9144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16002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A1628"/>
                </a:solidFill>
                <a:latin typeface="Calibri"/>
              </a:rPr>
              <a:t>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6002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463040"/>
            <a:ext cx="3200400" cy="9144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0" y="16002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A1628"/>
                </a:solidFill>
                <a:latin typeface="Calibri"/>
              </a:rPr>
              <a:t>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0" y="1600200"/>
            <a:ext cx="914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1463040"/>
            <a:ext cx="3200400" cy="914400"/>
          </a:xfrm>
          <a:prstGeom prst="roundRect">
            <a:avLst/>
          </a:prstGeom>
          <a:solidFill>
            <a:srgbClr val="00D4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0" y="16002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A1628"/>
                </a:solidFill>
                <a:latin typeface="Calibri"/>
              </a:rPr>
              <a:t>ASSISTANCE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2926080"/>
            <a:ext cx="11887200" cy="914400"/>
          </a:xfrm>
          <a:prstGeom prst="roundRect">
            <a:avLst/>
          </a:prstGeom>
          <a:solidFill>
            <a:srgbClr val="1A2A42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01752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  <a:latin typeface="Calibri"/>
              </a:rPr>
              <a:t>1.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38328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Préparation et structuration des données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931920"/>
            <a:ext cx="11887200" cy="914400"/>
          </a:xfrm>
          <a:prstGeom prst="roundRect">
            <a:avLst/>
          </a:prstGeom>
          <a:solidFill>
            <a:srgbClr val="1A2A42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02336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  <a:latin typeface="Calibri"/>
              </a:rPr>
              <a:t>2.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38912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Classification des tickets et expérimentation AIOps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937760"/>
            <a:ext cx="11887200" cy="914400"/>
          </a:xfrm>
          <a:prstGeom prst="roundRect">
            <a:avLst/>
          </a:prstGeom>
          <a:solidFill>
            <a:srgbClr val="1A2A42"/>
          </a:solidFill>
          <a:ln w="19050">
            <a:solidFill>
              <a:srgbClr val="00D4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45920" y="502920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AA"/>
                </a:solidFill>
                <a:latin typeface="Calibri"/>
              </a:rPr>
              <a:t>3. ASSISTANCE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394960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Recherche sémantique, RAG et Agent IA via API /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6126480"/>
            <a:ext cx="12801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💡  HARDTEC AIOps constitue une base d'expérimentation intégrée
     rapprochant Data Engineering, Machine Learning et assistance
     intelligente dans le domaine des opérations 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7315200"/>
            <a:ext cx="1280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00D4AA"/>
                </a:solidFill>
                <a:latin typeface="Calibri"/>
              </a:rPr>
              <a:t>MERCI POUR VOTRE ATTENTION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77724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